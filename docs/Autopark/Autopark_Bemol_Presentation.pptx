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1B2C4A"/>
          </a:solidFill>
          <a:ln/>
        </p:spPr>
      </p:sp>
      <p:sp>
        <p:nvSpPr>
          <p:cNvPr id="4" name="Shape 2"/>
          <p:cNvSpPr/>
          <p:nvPr/>
        </p:nvSpPr>
        <p:spPr>
          <a:xfrm>
            <a:off x="9098280" y="2880360"/>
            <a:ext cx="2834640" cy="1828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C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АВТОПАРК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Автоматизация расчёта расходов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автопарка бензовозов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26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Bemol  ·  демонстрационный стенд  ·  26.08.2026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098280" y="6172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E7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ПОРТАЛА ARTGRANIT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ИЗ ТЗ КЛИЕНТА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должен решать «Автопарк»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120640" cy="2057400"/>
          </a:xfrm>
          <a:prstGeom prst="rect">
            <a:avLst/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91640"/>
            <a:ext cx="457200" cy="45720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6642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Зарплата водителей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2860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нормативному пробегу: 2,75 лея/км + 600 леев за внутренний рейс. Не по факту, не по договорённости — по расчёту.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1371600"/>
            <a:ext cx="5120640" cy="2057400"/>
          </a:xfrm>
          <a:prstGeom prst="rect">
            <a:avLst/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691640"/>
            <a:ext cx="457200" cy="45720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16642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Исключить лишние выплаты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2860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необоснованного пробега (объезды, приписки, простой) не должна попадать в расчёт зарплаты.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5120640" cy="2057400"/>
          </a:xfrm>
          <a:prstGeom prst="rect">
            <a:avLst/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069080"/>
            <a:ext cx="457200" cy="45720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0416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маршрутов и топлива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6634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Прозрачное сравнение план/факт по пробегу и расходу дизельного топлива на каждый рейс.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89320" y="3749040"/>
            <a:ext cx="5120640" cy="2057400"/>
          </a:xfrm>
          <a:prstGeom prst="rect">
            <a:avLst/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4069080"/>
            <a:ext cx="457200" cy="45720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40416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Планирование поставок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46634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АЗС формируются автоматически с учётом страхового запаса в 6 суток реализации.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Autopark · Bemol · демонстрационный стенд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 МАСШТАБ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построено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09728" cy="1097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Изолированный модуль портала — подключается ядром, не затрагивая общий код (modules/autopark/)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109728" cy="1097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20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Собственная Oracle-схема FLT_ — 17 нормализованных таблиц, 3 представления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23744"/>
            <a:ext cx="109728" cy="1097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423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автотестов покрывают расчёт зарплаты, планирование и контроль отклонений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026664"/>
            <a:ext cx="109728" cy="1097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демонстрационный стенд с историей данных за 2 года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11094415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840480"/>
            <a:ext cx="1584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2 199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4663440"/>
            <a:ext cx="14386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рейсов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133556" y="3840480"/>
            <a:ext cx="1584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15 950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2206708" y="4663440"/>
            <a:ext cx="14386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суточного учёта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133556" y="3749040"/>
            <a:ext cx="0" cy="160020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18473" y="3840480"/>
            <a:ext cx="1584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2 900</a:t>
            </a:r>
            <a:endParaRPr lang="en-US" sz="2700" dirty="0"/>
          </a:p>
        </p:txBody>
      </p:sp>
      <p:sp>
        <p:nvSpPr>
          <p:cNvPr id="20" name="Text 18"/>
          <p:cNvSpPr txBox="1"/>
          <p:nvPr/>
        </p:nvSpPr>
        <p:spPr>
          <a:xfrm>
            <a:off x="3791625" y="4663440"/>
            <a:ext cx="14386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ценовых точек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718473" y="3749040"/>
            <a:ext cx="0" cy="160020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389" y="3840480"/>
            <a:ext cx="1584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700" dirty="0"/>
          </a:p>
        </p:txBody>
      </p:sp>
      <p:sp>
        <p:nvSpPr>
          <p:cNvPr id="23" name="Text 21"/>
          <p:cNvSpPr txBox="1"/>
          <p:nvPr/>
        </p:nvSpPr>
        <p:spPr>
          <a:xfrm>
            <a:off x="5376541" y="4663440"/>
            <a:ext cx="14386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АЗС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303389" y="3749040"/>
            <a:ext cx="0" cy="160020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88306" y="3840480"/>
            <a:ext cx="1584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700" dirty="0"/>
          </a:p>
        </p:txBody>
      </p:sp>
      <p:sp>
        <p:nvSpPr>
          <p:cNvPr id="26" name="Text 24"/>
          <p:cNvSpPr txBox="1"/>
          <p:nvPr/>
        </p:nvSpPr>
        <p:spPr>
          <a:xfrm>
            <a:off x="6961458" y="4663440"/>
            <a:ext cx="14386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бензовоза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88306" y="3749040"/>
            <a:ext cx="0" cy="160020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73222" y="3840480"/>
            <a:ext cx="1584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700" dirty="0"/>
          </a:p>
        </p:txBody>
      </p:sp>
      <p:sp>
        <p:nvSpPr>
          <p:cNvPr id="29" name="Text 27"/>
          <p:cNvSpPr txBox="1"/>
          <p:nvPr/>
        </p:nvSpPr>
        <p:spPr>
          <a:xfrm>
            <a:off x="8546374" y="4663440"/>
            <a:ext cx="14386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водителя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473222" y="3749040"/>
            <a:ext cx="0" cy="160020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58139" y="3840480"/>
            <a:ext cx="1584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2700" dirty="0"/>
          </a:p>
        </p:txBody>
      </p:sp>
      <p:sp>
        <p:nvSpPr>
          <p:cNvPr id="32" name="Text 30"/>
          <p:cNvSpPr txBox="1"/>
          <p:nvPr/>
        </p:nvSpPr>
        <p:spPr>
          <a:xfrm>
            <a:off x="10131291" y="4663440"/>
            <a:ext cx="14386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участков в матрице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058139" y="3749040"/>
            <a:ext cx="0" cy="160020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Autopark · Bemol · демонстрационный стенд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Сводка: запасы по АЗС в днях реализации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29764" y="1042416"/>
            <a:ext cx="7732166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132038">
                <a:alpha val="18000"/>
              </a:srgbClr>
            </a:outerShdw>
          </a:effectLst>
        </p:spPr>
      </p:sp>
      <p:pic>
        <p:nvPicPr>
          <p:cNvPr id="6" name="Image 0" descr="/private/tmp/claude-501/-Users-pt-Projects-AI-Artgranit/42bcaffd-dec6-4f2c-a845-1416643e3f43/scratchpad/apk-01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4628" y="1097280"/>
            <a:ext cx="7622438" cy="4764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84628" y="5971032"/>
            <a:ext cx="76224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экран руководителя — остаток топлива на каждой АЗС в пересчёте на дни продаж, с сортировкой по критичности.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Autopark · Bemol · демонстрационный стенд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АЗС, бензовозы, водители, матрица расстояний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29764" y="1042416"/>
            <a:ext cx="7732166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132038">
                <a:alpha val="18000"/>
              </a:srgbClr>
            </a:outerShdw>
          </a:effectLst>
        </p:spPr>
      </p:sp>
      <p:pic>
        <p:nvPicPr>
          <p:cNvPr id="6" name="Image 0" descr="/private/tmp/claude-501/-Users-pt-Projects-AI-Artgranit/42bcaffd-dec6-4f2c-a845-1416643e3f43/scratchpad/apk-02-ref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4628" y="1097280"/>
            <a:ext cx="7622438" cy="4764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84628" y="5971032"/>
            <a:ext cx="76224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нормализованная база мастер-данных: объекты сети, парк техники, персонал и расстояния между участками.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Autopark · Bemol · демонстрационный стенд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ПОСТАВКИ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Накладные и автоформирование рейсов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29764" y="1042416"/>
            <a:ext cx="7732166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132038">
                <a:alpha val="18000"/>
              </a:srgbClr>
            </a:outerShdw>
          </a:effectLst>
        </p:spPr>
      </p:sp>
      <p:pic>
        <p:nvPicPr>
          <p:cNvPr id="6" name="Image 0" descr="/private/tmp/claude-501/-Users-pt-Projects-AI-Artgranit/42bcaffd-dec6-4f2c-a845-1416643e3f43/scratchpad/apk-03-deliv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4628" y="1097280"/>
            <a:ext cx="7622438" cy="4764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84628" y="5971032"/>
            <a:ext cx="76224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Поступившие накладные автоматически превращаются в предложенные рейсы — логисту остаётся подтвердить.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Autopark · Bemol · демонстрационный стенд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РЕЙСЫ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Ручное создание, утверждение, факт GPS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29764" y="1042416"/>
            <a:ext cx="7732166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132038">
                <a:alpha val="18000"/>
              </a:srgbClr>
            </a:outerShdw>
          </a:effectLst>
        </p:spPr>
      </p:sp>
      <p:pic>
        <p:nvPicPr>
          <p:cNvPr id="6" name="Image 0" descr="/private/tmp/claude-501/-Users-pt-Projects-AI-Artgranit/42bcaffd-dec6-4f2c-a845-1416643e3f43/scratchpad/apk-04-tri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4628" y="1097280"/>
            <a:ext cx="7622438" cy="4764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84628" y="5971032"/>
            <a:ext cx="76224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 создаёт и утверждает рейсы вручную либо принимает автопредложение; фактический пробег сверяется по GPS-треку.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Autopark · Bemol · демонстрационный стенд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ПЛАНИРОВАНИЕ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Потребности АЗС и предложенные рейсы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29764" y="1042416"/>
            <a:ext cx="7732166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132038">
                <a:alpha val="18000"/>
              </a:srgbClr>
            </a:outerShdw>
          </a:effectLst>
        </p:spPr>
      </p:sp>
      <p:pic>
        <p:nvPicPr>
          <p:cNvPr id="6" name="Image 0" descr="/private/tmp/claude-501/-Users-pt-Projects-AI-Artgranit/42bcaffd-dec6-4f2c-a845-1416643e3f43/scratchpad/apk-05-plan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4628" y="1097280"/>
            <a:ext cx="7622438" cy="4764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84628" y="5971032"/>
            <a:ext cx="76224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рассчитывает потребность каждой АЗС со страховым запасом 6 суток и формирует предложения рейсов заранее.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Autopark · Bemol · демонстрационный стенд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ЗАРПЛАТА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Расчёт по нормативному пробегу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19883" y="1042416"/>
            <a:ext cx="675193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132038">
                <a:alpha val="18000"/>
              </a:srgbClr>
            </a:outerShdw>
          </a:effectLst>
        </p:spPr>
      </p:sp>
      <p:pic>
        <p:nvPicPr>
          <p:cNvPr id="6" name="Image 0" descr="/private/tmp/claude-501/-Users-pt-Projects-AI-Artgranit/42bcaffd-dec6-4f2c-a845-1416643e3f43/scratchpad/apk-06-payro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4747" y="1097280"/>
            <a:ext cx="6642202" cy="4151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774747" y="5358384"/>
            <a:ext cx="66422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Зарплата водителя формируется автоматически из утверждённых рейсов — без ручного ввода и без переплат за необоснованный пробег.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74747" y="5852160"/>
            <a:ext cx="6642202" cy="50292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003347" y="5852160"/>
            <a:ext cx="61850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Зарплата = Норм. пробег × 2,75 лея  +  Внутренние рейсы × 600 леев.  </a:t>
            </a:r>
            <a:pPr indent="0" marL="0">
              <a:buNone/>
            </a:pPr>
            <a:r>
              <a:rPr lang="en-US" sz="1250" i="1" dirty="0">
                <a:solidFill>
                  <a:srgbClr val="AE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Импортные рейсы (Кишинёв–Констанца) доплату не получают.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Autopark · Bemol · демонстрационный стенд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Контроль отклонений: пробег и перерасход ДТ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19883" y="1042416"/>
            <a:ext cx="675193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132038">
                <a:alpha val="18000"/>
              </a:srgbClr>
            </a:outerShdw>
          </a:effectLst>
        </p:spPr>
      </p:sp>
      <p:pic>
        <p:nvPicPr>
          <p:cNvPr id="6" name="Image 0" descr="/private/tmp/claude-501/-Users-pt-Projects-AI-Artgranit/42bcaffd-dec6-4f2c-a845-1416643e3f43/scratchpad/apk-07-con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4747" y="1097280"/>
            <a:ext cx="6642202" cy="4151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774747" y="5358384"/>
            <a:ext cx="66422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сопоставление плана и факта выявляет превышения по пробегу и по расходу топлива для точечной проверки.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74747" y="5852160"/>
            <a:ext cx="6642202" cy="50292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003347" y="5852160"/>
            <a:ext cx="61850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г. (01.01–26.08): пробег 33 920 км · ФОТ 149 081 лей · стоимость перевозки 1 л — 0,164 лея · средняя загрузка 31,8% · превышений: 4 по пробегу, 2 по ДТ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Autopark · Bemol · демонстрационный стенд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НА ТОПЛИВО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Динамика за 2 года со скачками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19883" y="1042416"/>
            <a:ext cx="675193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132038">
                <a:alpha val="18000"/>
              </a:srgbClr>
            </a:outerShdw>
          </a:effectLst>
        </p:spPr>
      </p:sp>
      <p:pic>
        <p:nvPicPr>
          <p:cNvPr id="6" name="Image 0" descr="/private/tmp/claude-501/-Users-pt-Projects-AI-Artgranit/42bcaffd-dec6-4f2c-a845-1416643e3f43/scratchpad/apk-08-p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4747" y="1097280"/>
            <a:ext cx="6642202" cy="4151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774747" y="5358384"/>
            <a:ext cx="66422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 цен на A95 и дизель за два года — основа для расчёта стоимости перевозки и планирования закупок.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74747" y="5852160"/>
            <a:ext cx="6642202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03347" y="5852160"/>
            <a:ext cx="61850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Якорные точки — реальные предельные цены ANRE (A95, дизель); остальной ряд — модельный, калиброван по якорям (источник помечен в каждой строке данных).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Autopark · Bemol · демонстрационный стенд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ДАЛЬШЕ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972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Следующие шаги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2140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GPS-провайдера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47802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реального источника треков вместо тестового набора фактических данных.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502920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99008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архив цен ANRE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34670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исторических предельных цен целиком, без модельной калибровки промежуточных точек.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886200"/>
            <a:ext cx="502920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85876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на боевой контур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21538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 Oracle-объектов FLT_ и модуля на production-инфраструктуре.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4754880"/>
            <a:ext cx="502920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72744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логиста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508406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процесса планирования и утверждения рейсов ответственному сотруднику.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5989320"/>
            <a:ext cx="10515600" cy="502920"/>
          </a:xfrm>
          <a:prstGeom prst="rect">
            <a:avLst/>
          </a:prstGeom>
          <a:solidFill>
            <a:srgbClr val="1B2C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51560" y="59893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Стенд: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/UNA.md/orasldev/autopark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2026-08-26T08:57:32Z</dcterms:created>
  <dcterms:modified xsi:type="dcterms:W3CDTF">2026-08-26T08:57:32Z</dcterms:modified>
</cp:coreProperties>
</file>