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_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0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B2C4A"/>
          </a:solidFill>
          <a:ln/>
        </p:spPr>
      </p:sp>
      <p:sp>
        <p:nvSpPr>
          <p:cNvPr id="4" name="Shape 2"/>
          <p:cNvSpPr/>
          <p:nvPr/>
        </p:nvSpPr>
        <p:spPr>
          <a:xfrm>
            <a:off x="9098280" y="2880360"/>
            <a:ext cx="2834640" cy="1828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C9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АВТОПАРК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расчёта расходов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автопарка бензовозов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526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Bemol  ·  демонстрационный стенд  ·  26.08.2026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098280" y="6172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E7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ПОРТАЛА ARTGRANIT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ИЗ ТЗ КЛИЕНТА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должен решать «Автопарк»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120640" cy="2057400"/>
          </a:xfrm>
          <a:prstGeom prst="rect">
            <a:avLst/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691640"/>
            <a:ext cx="457200" cy="45720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6642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Зарплата водителей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2860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нормативному пробегу: 2,75 лея/км + 600 леев за внутренний рейс. Не по факту, не по договорённости — по расчёту.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89320" y="1371600"/>
            <a:ext cx="5120640" cy="2057400"/>
          </a:xfrm>
          <a:prstGeom prst="rect">
            <a:avLst/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691640"/>
            <a:ext cx="457200" cy="45720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09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16642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Исключить лишние выплаты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2860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необоснованного пробега (объезды, приписки, простой) не должна попадать в расчёт зарплаты.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5120640" cy="2057400"/>
          </a:xfrm>
          <a:prstGeom prst="rect">
            <a:avLst/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4069080"/>
            <a:ext cx="457200" cy="45720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041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маршрутов и топлива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6634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Прозрачное сравнение план/факт по пробегу и расходу дизельного топлива на каждый рейс.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89320" y="3749040"/>
            <a:ext cx="5120640" cy="2057400"/>
          </a:xfrm>
          <a:prstGeom prst="rect">
            <a:avLst/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4069080"/>
            <a:ext cx="457200" cy="45720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041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поставок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46634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АЗС формируются автоматически с учётом страхового запаса в 6 суток реализации.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МАСШТАБ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построено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109728" cy="1097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12471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Изолированный модуль портала — подключается ядром, не затрагивая общий код (modules/autopark/)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682496"/>
            <a:ext cx="109728" cy="1097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5453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Собственная Oracle-схема FLT_ — 21 таблица (включая GPS-треки и архив цен ANRE), 3 представления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103120"/>
            <a:ext cx="109728" cy="1097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196596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автотестов покрывают зарплату, планирование, контроль отклонений и GPS-слой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523744"/>
            <a:ext cx="109728" cy="1097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2386584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Телеграм-бот логиста и методичка LOGIST_GUIDE.md — эксплуатация без участия разработчика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44368"/>
            <a:ext cx="109728" cy="1097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280720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Развёрнуто на боевом контуре nufarul.eminescu.md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11094415" cy="2331720"/>
          </a:xfrm>
          <a:prstGeom prst="rect">
            <a:avLst/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657600"/>
            <a:ext cx="138680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2 199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4480560"/>
            <a:ext cx="12770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рейсов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935442" y="3657600"/>
            <a:ext cx="138680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990306" y="4480560"/>
            <a:ext cx="12770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FLT_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35442" y="3566160"/>
            <a:ext cx="0" cy="182880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22244" y="3657600"/>
            <a:ext cx="138680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127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377108" y="4480560"/>
            <a:ext cx="12770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22244" y="3566160"/>
            <a:ext cx="0" cy="182880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09046" y="3657600"/>
            <a:ext cx="138680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2 900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4763910" y="4480560"/>
            <a:ext cx="12770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ценовых точек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(1 000 реальных ANRE)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046" y="3566160"/>
            <a:ext cx="0" cy="182880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95848" y="3657600"/>
            <a:ext cx="138680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6150712" y="4480560"/>
            <a:ext cx="12770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примеров отчётов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95848" y="3566160"/>
            <a:ext cx="0" cy="182880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82650" y="3657600"/>
            <a:ext cx="138680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7537514" y="4480560"/>
            <a:ext cx="12770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АЗС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82650" y="3566160"/>
            <a:ext cx="0" cy="182880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69451" y="3657600"/>
            <a:ext cx="138680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8924315" y="4480560"/>
            <a:ext cx="12770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бензовоза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869451" y="3566160"/>
            <a:ext cx="0" cy="182880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256253" y="3657600"/>
            <a:ext cx="138680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10311117" y="4480560"/>
            <a:ext cx="12770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водителя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0256253" y="3566160"/>
            <a:ext cx="0" cy="182880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Сводка: запасы по АЗС в днях реализации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29764" y="1042416"/>
            <a:ext cx="7732166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C"/>
            </a:solidFill>
            <a:prstDash val="solid"/>
          </a:ln>
          <a:effectLst>
            <a:outerShdw sx="100000" sy="100000" kx="0" ky="0" algn="bl" rotWithShape="0" blurRad="127000" dist="38100" dir="5400000">
              <a:srgbClr val="132038">
                <a:alpha val="18000"/>
              </a:srgbClr>
            </a:outerShdw>
          </a:effectLst>
        </p:spPr>
      </p:sp>
      <p:pic>
        <p:nvPicPr>
          <p:cNvPr id="6" name="Image 0" descr="/private/tmp/claude-501/-Users-pt-Projects-AI-Artgranit/42bcaffd-dec6-4f2c-a845-1416643e3f43/scratchpad/apk-01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628" y="1097280"/>
            <a:ext cx="7622438" cy="4764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84628" y="5971032"/>
            <a:ext cx="76224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экран руководителя — остаток топлива на каждой АЗС в пересчёте на дни продаж, с сортировкой по критичности.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АЗС, бензовозы, водители, матрица расстояний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29764" y="1042416"/>
            <a:ext cx="7732166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C"/>
            </a:solidFill>
            <a:prstDash val="solid"/>
          </a:ln>
          <a:effectLst>
            <a:outerShdw sx="100000" sy="100000" kx="0" ky="0" algn="bl" rotWithShape="0" blurRad="127000" dist="38100" dir="5400000">
              <a:srgbClr val="132038">
                <a:alpha val="18000"/>
              </a:srgbClr>
            </a:outerShdw>
          </a:effectLst>
        </p:spPr>
      </p:sp>
      <p:pic>
        <p:nvPicPr>
          <p:cNvPr id="6" name="Image 0" descr="/private/tmp/claude-501/-Users-pt-Projects-AI-Artgranit/42bcaffd-dec6-4f2c-a845-1416643e3f43/scratchpad/apk-02-re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628" y="1097280"/>
            <a:ext cx="7622438" cy="4764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84628" y="5971032"/>
            <a:ext cx="76224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нормализованная база мастер-данных: объекты сети, парк техники, персонал и расстояния между участками.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ПОСТАВКИ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Накладные и автоформирование рейсов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29764" y="1042416"/>
            <a:ext cx="7732166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C"/>
            </a:solidFill>
            <a:prstDash val="solid"/>
          </a:ln>
          <a:effectLst>
            <a:outerShdw sx="100000" sy="100000" kx="0" ky="0" algn="bl" rotWithShape="0" blurRad="127000" dist="38100" dir="5400000">
              <a:srgbClr val="132038">
                <a:alpha val="18000"/>
              </a:srgbClr>
            </a:outerShdw>
          </a:effectLst>
        </p:spPr>
      </p:sp>
      <p:pic>
        <p:nvPicPr>
          <p:cNvPr id="6" name="Image 0" descr="/private/tmp/claude-501/-Users-pt-Projects-AI-Artgranit/42bcaffd-dec6-4f2c-a845-1416643e3f43/scratchpad/apk-03-deliv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628" y="1097280"/>
            <a:ext cx="7622438" cy="4764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84628" y="5971032"/>
            <a:ext cx="76224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Поступившие накладные автоматически превращаются в предложенные рейсы — логисту остаётся подтвердить.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РЕЙСЫ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Ручное создание, утверждение, факт GPS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29764" y="1042416"/>
            <a:ext cx="7732166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C"/>
            </a:solidFill>
            <a:prstDash val="solid"/>
          </a:ln>
          <a:effectLst>
            <a:outerShdw sx="100000" sy="100000" kx="0" ky="0" algn="bl" rotWithShape="0" blurRad="127000" dist="38100" dir="5400000">
              <a:srgbClr val="132038">
                <a:alpha val="18000"/>
              </a:srgbClr>
            </a:outerShdw>
          </a:effectLst>
        </p:spPr>
      </p:sp>
      <p:pic>
        <p:nvPicPr>
          <p:cNvPr id="6" name="Image 0" descr="/private/tmp/claude-501/-Users-pt-Projects-AI-Artgranit/42bcaffd-dec6-4f2c-a845-1416643e3f43/scratchpad/apk-04-tri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628" y="1097280"/>
            <a:ext cx="7622438" cy="4764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84628" y="5971032"/>
            <a:ext cx="76224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 создаёт и утверждает рейсы вручную либо принимает автопредложение; фактический пробег сверяется по GPS-треку.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Потребности АЗС и предложенные рейсы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29764" y="1042416"/>
            <a:ext cx="7732166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C"/>
            </a:solidFill>
            <a:prstDash val="solid"/>
          </a:ln>
          <a:effectLst>
            <a:outerShdw sx="100000" sy="100000" kx="0" ky="0" algn="bl" rotWithShape="0" blurRad="127000" dist="38100" dir="5400000">
              <a:srgbClr val="132038">
                <a:alpha val="18000"/>
              </a:srgbClr>
            </a:outerShdw>
          </a:effectLst>
        </p:spPr>
      </p:sp>
      <p:pic>
        <p:nvPicPr>
          <p:cNvPr id="6" name="Image 0" descr="/private/tmp/claude-501/-Users-pt-Projects-AI-Artgranit/42bcaffd-dec6-4f2c-a845-1416643e3f43/scratchpad/apk-05-plan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628" y="1097280"/>
            <a:ext cx="7622438" cy="4764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84628" y="5971032"/>
            <a:ext cx="76224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рассчитывает потребность каждой АЗС со страховым запасом 6 суток и формирует предложения рейсов заранее.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Расчёт по нормативному пробегу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19883" y="1042416"/>
            <a:ext cx="675193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C"/>
            </a:solidFill>
            <a:prstDash val="solid"/>
          </a:ln>
          <a:effectLst>
            <a:outerShdw sx="100000" sy="100000" kx="0" ky="0" algn="bl" rotWithShape="0" blurRad="127000" dist="38100" dir="5400000">
              <a:srgbClr val="132038">
                <a:alpha val="18000"/>
              </a:srgbClr>
            </a:outerShdw>
          </a:effectLst>
        </p:spPr>
      </p:sp>
      <p:pic>
        <p:nvPicPr>
          <p:cNvPr id="6" name="Image 0" descr="/private/tmp/claude-501/-Users-pt-Projects-AI-Artgranit/42bcaffd-dec6-4f2c-a845-1416643e3f43/scratchpad/apk-06-payro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4747" y="1097280"/>
            <a:ext cx="6642202" cy="41513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774747" y="5358384"/>
            <a:ext cx="66422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Зарплата водителя формируется автоматически из утверждённых рейсов — без ручного ввода и без переплат за необоснованный пробег.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774747" y="5852160"/>
            <a:ext cx="6642202" cy="5029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003347" y="5852160"/>
            <a:ext cx="61850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Зарплата = Норм. пробег × 2,75 лея  +  Внутренние рейсы × 600 леев.  </a:t>
            </a:r>
            <a:pPr indent="0" marL="0">
              <a:buNone/>
            </a:pPr>
            <a:r>
              <a:rPr lang="en-US" sz="1250" i="1" dirty="0">
                <a:solidFill>
                  <a:srgbClr val="AEB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Импортные рейсы (Кишинёв–Констанца) доплату не получают.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Контроль отклонений: пробег и перерасход ДТ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19883" y="1042416"/>
            <a:ext cx="675193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C"/>
            </a:solidFill>
            <a:prstDash val="solid"/>
          </a:ln>
          <a:effectLst>
            <a:outerShdw sx="100000" sy="100000" kx="0" ky="0" algn="bl" rotWithShape="0" blurRad="127000" dist="38100" dir="5400000">
              <a:srgbClr val="132038">
                <a:alpha val="18000"/>
              </a:srgbClr>
            </a:outerShdw>
          </a:effectLst>
        </p:spPr>
      </p:sp>
      <p:pic>
        <p:nvPicPr>
          <p:cNvPr id="6" name="Image 0" descr="/private/tmp/claude-501/-Users-pt-Projects-AI-Artgranit/42bcaffd-dec6-4f2c-a845-1416643e3f43/scratchpad/apk-07-contr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4747" y="1097280"/>
            <a:ext cx="6642202" cy="41513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774747" y="5358384"/>
            <a:ext cx="66422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Автоматическое сопоставление плана и факта выявляет превышения по пробегу и по расходу топлива для точечной проверки.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774747" y="5852160"/>
            <a:ext cx="6642202" cy="5029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003347" y="5852160"/>
            <a:ext cx="61850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г. (01.01–26.08): пробег 264 361 км · ФОТ 1 155 393 лея · стоимость перевозки 1 л — 0,163 лея · средняя загрузка 32,4% · превышений: 18 по пробегу, 18 по ДТ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GPS-МОНИТОРИНГ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Живая позиция бензовоза и трек рейса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19883" y="1042416"/>
            <a:ext cx="675193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C"/>
            </a:solidFill>
            <a:prstDash val="solid"/>
          </a:ln>
          <a:effectLst>
            <a:outerShdw sx="100000" sy="100000" kx="0" ky="0" algn="bl" rotWithShape="0" blurRad="127000" dist="38100" dir="5400000">
              <a:srgbClr val="132038">
                <a:alpha val="18000"/>
              </a:srgbClr>
            </a:outerShdw>
          </a:effectLst>
        </p:spPr>
      </p:sp>
      <p:pic>
        <p:nvPicPr>
          <p:cNvPr id="6" name="Image 0" descr="/private/tmp/claude-501/-Users-pt-Projects-AI-Artgranit/42bcaffd-dec6-4f2c-a845-1416643e3f43/scratchpad/apk-09-g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4747" y="1097280"/>
            <a:ext cx="6642202" cy="41513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774747" y="5358384"/>
            <a:ext cx="66422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Карта: АЗС на контуре Республики Молдова, позиция бензовоза каждые 5 секунд. Воспроизведение рейса: трек 24,5 км против норматива 24,0 км (+1,9%).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774747" y="5852160"/>
            <a:ext cx="6642202" cy="5029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003347" y="5852160"/>
            <a:ext cx="61850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Прослойка над любым GPS-провайдером: </a:t>
            </a:r>
            <a:pPr indent="0" marL="0">
              <a:buNone/>
            </a:pPr>
            <a:r>
              <a:rPr lang="en-US" sz="1150" dirty="0">
                <a:solidFill>
                  <a:srgbClr val="AEB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симулятор шлёт точки тем же HTTP-входом /api/gps/ingest, куда встанет реальный трекер. 30 рейсов переведены с тестовых фактов на треки: средняя |факт−норма| = 1,5%.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и Excel: 6 форм отчётов по ТЗ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107159" y="1042416"/>
            <a:ext cx="5977378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C"/>
            </a:solidFill>
            <a:prstDash val="solid"/>
          </a:ln>
          <a:effectLst>
            <a:outerShdw sx="100000" sy="100000" kx="0" ky="0" algn="bl" rotWithShape="0" blurRad="127000" dist="38100" dir="5400000">
              <a:srgbClr val="132038">
                <a:alpha val="18000"/>
              </a:srgbClr>
            </a:outerShdw>
          </a:effectLst>
        </p:spPr>
      </p:sp>
      <p:pic>
        <p:nvPicPr>
          <p:cNvPr id="6" name="Image 0" descr="/private/tmp/claude-501/-Users-pt-Projects-AI-Artgranit/42bcaffd-dec6-4f2c-a845-1416643e3f43/scratchpad/report-mgmt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2023" y="1097280"/>
            <a:ext cx="5867650" cy="41513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162023" y="5358384"/>
            <a:ext cx="58676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PDF для руководства — та же форма доступна в Excel; отдельные отчёты по водителю, автомобилю, АЗС и сводный рейтинг водителей.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162023" y="5852160"/>
            <a:ext cx="5867650" cy="502920"/>
          </a:xfrm>
          <a:prstGeom prst="rect">
            <a:avLst/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90623" y="5852160"/>
            <a:ext cx="54104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отчётов (ТЗ §14 полностью): по водителю, автомобилю, АЗС, сводный с рейтингом водителей, для руководства, ценовой. 16 готовых примеров XLSX+PDF за июль и YTD 2026.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ТЕЛЕГРАМ-БОТ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Телеграм-бот логиста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/stock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1691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остатки топлива по АЗС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75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2075688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предложенные рейсы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5973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/trips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459736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рейсы за период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84378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/pay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2843784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зарплаты за месяц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278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/control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3227832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отклонения по пробегу и ДТ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6118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/prices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361188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цены на топливо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05079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Мониторинг-пуши без запроса: запас АЗС ниже страхового; превышение лимита пробега или расхода ДТ.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1234440"/>
            <a:ext cx="5486400" cy="4160520"/>
          </a:xfrm>
          <a:prstGeom prst="rect">
            <a:avLst/>
          </a:prstGeom>
          <a:solidFill>
            <a:srgbClr val="132038"/>
          </a:solidFill>
          <a:ln/>
          <a:effectLst>
            <a:outerShdw sx="100000" sy="100000" kx="0" ky="0" algn="bl" rotWithShape="0" blurRad="127000" dist="38100" dir="5400000">
              <a:srgbClr val="132038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46520" y="14904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6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/pay 2026-07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1947672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Андрей Русу: 34 305.93 леев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(23 внутр., 7 457 км)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Виктор Кроитор: 37 778.35 леев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Ион Морарь: 33 800.15 леев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Сергей Цуркан: 39 254.00 леев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(23 внутр. + 1 имп.)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Итого: 145 138.42 леев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8064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Белый список chat_id, антидубль уведомлений. Для запуска нужен только токен @BotFather в .env.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ЭКСПЛУАТАЦИЯ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 логиста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120640" cy="4206240"/>
          </a:xfrm>
          <a:prstGeom prst="rect">
            <a:avLst/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645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LOGIST_GUIDE.md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02996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 дня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0604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Пошаговый порядок работы логиста на день: с чего начать смену, порядок утверждения рейсов, что проверять перед закрытием дня.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7764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типовых ошибок с конкретным действием по каждой — не абстрактные предупреждения, а «увидел — сделай».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89320" y="1371600"/>
            <a:ext cx="5120640" cy="4206240"/>
          </a:xfrm>
          <a:prstGeom prst="rect">
            <a:avLst/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645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LOGIST_JOB_DESCRIPTION.md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02996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Должностная инструкция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60604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Обязанности и права логиста в системе: кто утверждает рейсы, кто правит справочники, зона ответственности.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97764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соблюдение страхового запаса, утверждение рейсов день-в-день, разбор отклонений, равномерная загрузка бензовозов.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ЦЕНЫ НА ТОПЛИВО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Динамика за 2 года со скачками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19883" y="1042416"/>
            <a:ext cx="675193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C"/>
            </a:solidFill>
            <a:prstDash val="solid"/>
          </a:ln>
          <a:effectLst>
            <a:outerShdw sx="100000" sy="100000" kx="0" ky="0" algn="bl" rotWithShape="0" blurRad="127000" dist="38100" dir="5400000">
              <a:srgbClr val="132038">
                <a:alpha val="18000"/>
              </a:srgbClr>
            </a:outerShdw>
          </a:effectLst>
        </p:spPr>
      </p:sp>
      <p:pic>
        <p:nvPicPr>
          <p:cNvPr id="6" name="Image 0" descr="/private/tmp/claude-501/-Users-pt-Projects-AI-Artgranit/42bcaffd-dec6-4f2c-a845-1416643e3f43/scratchpad/apk-08-p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4747" y="1097280"/>
            <a:ext cx="6642202" cy="41513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774747" y="5358384"/>
            <a:ext cx="66422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цен на A95 и дизель за два года — реальный скачок дизеля весной 2026 виден на графике.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774747" y="5852160"/>
            <a:ext cx="6642202" cy="502920"/>
          </a:xfrm>
          <a:prstGeom prst="rect">
            <a:avLst/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03347" y="5852160"/>
            <a:ext cx="61850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A95 и дизель — реальный дневной архив предельных цен ANRE (anre.md/oil-get-table): по 500 решений за 24 месяца, покрытие 99,9%. A92/A98 ANRE не регулирует — модельный ряд, источник помечен в каждой строке.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Autopark · Bemol · демонстрационный стенд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0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БОЕВОЙ КОНТУР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Развёрнуто на боевом контуре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365760" cy="3657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Точечный патч кода — общий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общий установщик не тронуты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587752"/>
            <a:ext cx="365760" cy="3657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58775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перезапущен без простоя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3118104"/>
            <a:ext cx="365760" cy="3657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118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11810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Прод-база Oracle видит 21 таблицу FLT_ и 2 199 рейсов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3648456"/>
            <a:ext cx="365760" cy="3657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648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64845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автотестов пройдены на боевом контуре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315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8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ОСТАЛОСЬ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727448"/>
            <a:ext cx="365760" cy="274320"/>
          </a:xfrm>
          <a:prstGeom prst="rect">
            <a:avLst/>
          </a:prstGeom>
          <a:solidFill>
            <a:srgbClr val="1B2C4A"/>
          </a:solidFill>
          <a:ln w="12700">
            <a:solidFill>
              <a:srgbClr val="5E71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468172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D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 телеграм-бота от владельца (@BotFather)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5166360"/>
            <a:ext cx="365760" cy="274320"/>
          </a:xfrm>
          <a:prstGeom prst="rect">
            <a:avLst/>
          </a:prstGeom>
          <a:solidFill>
            <a:srgbClr val="1B2C4A"/>
          </a:solidFill>
          <a:ln w="12700">
            <a:solidFill>
              <a:srgbClr val="5E71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71600" y="51206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D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 с GPS-провайдером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solidFill>
            <a:srgbClr val="1B2C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51560" y="59893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URL: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https://nufarul.eminescu.md/UNA.md/orasldev/autopark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2026-08-26T11:54:53Z</dcterms:created>
  <dcterms:modified xsi:type="dcterms:W3CDTF">2026-08-26T11:54:53Z</dcterms:modified>
</cp:coreProperties>
</file>